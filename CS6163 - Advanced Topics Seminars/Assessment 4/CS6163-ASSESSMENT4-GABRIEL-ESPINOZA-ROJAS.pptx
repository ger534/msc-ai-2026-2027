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1396325" cy="302672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686" y="-170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C34F00-D420-4962-A2EA-781A74A5C97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5AB76D-CCA3-41B6-9057-FB79D0E53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168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AB76D-CCA3-41B6-9057-FB79D0E533C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8140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1396960" cy="3026664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396960" cy="1097280"/>
          </a:xfrm>
          <a:prstGeom prst="rect">
            <a:avLst/>
          </a:prstGeom>
          <a:solidFill>
            <a:srgbClr val="214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7379453" y="228600"/>
            <a:ext cx="6272293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lang="en-IE" noProof="0" dirty="0"/>
              <a:t>Assessment 4 – Research Poster</a:t>
            </a:r>
          </a:p>
          <a:p>
            <a:pPr algn="ctr">
              <a:defRPr sz="1800">
                <a:solidFill>
                  <a:srgbClr val="E6E6E6"/>
                </a:solidFill>
              </a:defRPr>
            </a:pPr>
            <a:r>
              <a:rPr lang="en-IE" noProof="0" dirty="0"/>
              <a:t>Gabriel Espinoza Rojas| 22176691 |CS6163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7936981" cy="2677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1488C"/>
                </a:solidFill>
              </a:defRPr>
            </a:pPr>
            <a:r>
              <a:rPr lang="en-IE" noProof="0" dirty="0"/>
              <a:t>1. Research Focus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IE" b="1" noProof="0" dirty="0"/>
              <a:t>• Final research question(s):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IE" noProof="0" dirty="0"/>
              <a:t>Does delivering interventions at a machine learning (ML)-detected time lead to 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IE" noProof="0" dirty="0"/>
              <a:t>higher receptivity than delivering interventions at a random time? 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br>
              <a:rPr lang="en-IE" noProof="0" dirty="0"/>
            </a:br>
            <a:r>
              <a:rPr lang="en-IE" noProof="0" dirty="0"/>
              <a:t>• </a:t>
            </a:r>
            <a:r>
              <a:rPr lang="en-IE" b="1" noProof="0" dirty="0"/>
              <a:t>Refined research scope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IE" noProof="0" dirty="0"/>
              <a:t>Research shows that psychological interventions after successful cancer treatment 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IE" noProof="0" dirty="0"/>
              <a:t>can be sources of stress. Using AI to predict when it’s the best time approach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IE" noProof="0" dirty="0"/>
              <a:t>people has been explored in other domains, but not in psycho-oncology.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645920"/>
            <a:ext cx="8892050" cy="96026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1488C"/>
                </a:solidFill>
              </a:defRPr>
            </a:pPr>
            <a:r>
              <a:rPr lang="en-IE" noProof="0" dirty="0"/>
              <a:t>2. Literature Review Structure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IE" noProof="0" dirty="0"/>
              <a:t>• </a:t>
            </a:r>
            <a:r>
              <a:rPr lang="en-IE" b="1" noProof="0" dirty="0"/>
              <a:t>Key themes or sections</a:t>
            </a:r>
          </a:p>
          <a:p>
            <a:pPr lvl="1">
              <a:defRPr sz="1800">
                <a:solidFill>
                  <a:srgbClr val="3C3C3C"/>
                </a:solidFill>
              </a:defRPr>
            </a:pPr>
            <a:r>
              <a:rPr lang="en-IE" noProof="0" dirty="0"/>
              <a:t>2.1 Sensing mental health</a:t>
            </a:r>
          </a:p>
          <a:p>
            <a:pPr lvl="1">
              <a:defRPr sz="1800">
                <a:solidFill>
                  <a:srgbClr val="3C3C3C"/>
                </a:solidFill>
              </a:defRPr>
            </a:pPr>
            <a:r>
              <a:rPr lang="en-IE" noProof="0" dirty="0"/>
              <a:t>	2.1.1 Mobile health</a:t>
            </a:r>
          </a:p>
          <a:p>
            <a:pPr lvl="1">
              <a:defRPr sz="1800">
                <a:solidFill>
                  <a:srgbClr val="3C3C3C"/>
                </a:solidFill>
              </a:defRPr>
            </a:pPr>
            <a:r>
              <a:rPr lang="en-IE" noProof="0" dirty="0"/>
              <a:t>	2.1.2 Active digital phenotyping</a:t>
            </a:r>
          </a:p>
          <a:p>
            <a:pPr lvl="1">
              <a:defRPr sz="1800">
                <a:solidFill>
                  <a:srgbClr val="3C3C3C"/>
                </a:solidFill>
              </a:defRPr>
            </a:pPr>
            <a:r>
              <a:rPr lang="en-IE" noProof="0" dirty="0"/>
              <a:t>		2.1.2.1 Ecological Momentary Assessments</a:t>
            </a:r>
          </a:p>
          <a:p>
            <a:pPr lvl="1">
              <a:defRPr sz="1800">
                <a:solidFill>
                  <a:srgbClr val="3C3C3C"/>
                </a:solidFill>
              </a:defRPr>
            </a:pPr>
            <a:r>
              <a:rPr lang="en-IE" noProof="0" dirty="0"/>
              <a:t>		2.1.2.2 Interventions</a:t>
            </a:r>
          </a:p>
          <a:p>
            <a:pPr lvl="1">
              <a:defRPr sz="1800">
                <a:solidFill>
                  <a:srgbClr val="3C3C3C"/>
                </a:solidFill>
              </a:defRPr>
            </a:pPr>
            <a:r>
              <a:rPr lang="en-IE" noProof="0" dirty="0"/>
              <a:t>	2.1.3 Passive digital phenotyping </a:t>
            </a:r>
          </a:p>
          <a:p>
            <a:pPr lvl="1">
              <a:defRPr sz="1800">
                <a:solidFill>
                  <a:srgbClr val="3C3C3C"/>
                </a:solidFill>
              </a:defRPr>
            </a:pPr>
            <a:r>
              <a:rPr lang="en-IE" noProof="0" dirty="0"/>
              <a:t>2.2 Machine learning in healthcare</a:t>
            </a:r>
          </a:p>
          <a:p>
            <a:pPr lvl="1">
              <a:defRPr sz="1800">
                <a:solidFill>
                  <a:srgbClr val="3C3C3C"/>
                </a:solidFill>
              </a:defRPr>
            </a:pPr>
            <a:r>
              <a:rPr lang="en-IE" noProof="0" dirty="0"/>
              <a:t>	2.2.1 Sensor inference</a:t>
            </a:r>
          </a:p>
          <a:p>
            <a:pPr lvl="1">
              <a:defRPr sz="1800">
                <a:solidFill>
                  <a:srgbClr val="3C3C3C"/>
                </a:solidFill>
              </a:defRPr>
            </a:pPr>
            <a:r>
              <a:rPr lang="en-IE" noProof="0" dirty="0"/>
              <a:t>	2.2.2 Ethical considerations</a:t>
            </a:r>
          </a:p>
          <a:p>
            <a:pPr lvl="1">
              <a:defRPr sz="1800">
                <a:solidFill>
                  <a:srgbClr val="3C3C3C"/>
                </a:solidFill>
              </a:defRPr>
            </a:pPr>
            <a:r>
              <a:rPr lang="en-IE" noProof="0" dirty="0"/>
              <a:t>2.3 State of the art</a:t>
            </a:r>
          </a:p>
          <a:p>
            <a:pPr lvl="1">
              <a:defRPr sz="1800">
                <a:solidFill>
                  <a:srgbClr val="3C3C3C"/>
                </a:solidFill>
              </a:defRPr>
            </a:pPr>
            <a:r>
              <a:rPr lang="en-IE" noProof="0" dirty="0"/>
              <a:t>	2.3.1 Predicting receptivity</a:t>
            </a:r>
          </a:p>
          <a:p>
            <a:pPr lvl="1">
              <a:defRPr sz="1800">
                <a:solidFill>
                  <a:srgbClr val="3C3C3C"/>
                </a:solidFill>
              </a:defRPr>
            </a:pPr>
            <a:r>
              <a:rPr lang="en-IE" noProof="0" dirty="0"/>
              <a:t>	2.3.2 Time series classification</a:t>
            </a:r>
          </a:p>
          <a:p>
            <a:pPr lvl="1">
              <a:defRPr sz="1800">
                <a:solidFill>
                  <a:srgbClr val="3C3C3C"/>
                </a:solidFill>
              </a:defRPr>
            </a:pPr>
            <a:endParaRPr lang="en-IE" noProof="0" dirty="0"/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IE" b="1" noProof="0" dirty="0"/>
              <a:t>• Core sources underpinning each theme</a:t>
            </a:r>
          </a:p>
          <a:p>
            <a:pPr lvl="1">
              <a:defRPr sz="1800">
                <a:solidFill>
                  <a:srgbClr val="3C3C3C"/>
                </a:solidFill>
              </a:defRPr>
            </a:pPr>
            <a:r>
              <a:rPr lang="en-IE" noProof="0" dirty="0"/>
              <a:t>2.1 (</a:t>
            </a:r>
            <a:r>
              <a:rPr lang="en-US" dirty="0"/>
              <a:t>Verma </a:t>
            </a:r>
            <a:r>
              <a:rPr lang="en-IE" dirty="0"/>
              <a:t>et al.</a:t>
            </a:r>
            <a:r>
              <a:rPr lang="en-US" dirty="0"/>
              <a:t> 2024</a:t>
            </a:r>
            <a:r>
              <a:rPr lang="en-IE" noProof="0" dirty="0"/>
              <a:t>)</a:t>
            </a:r>
          </a:p>
          <a:p>
            <a:pPr lvl="1">
              <a:defRPr sz="1800">
                <a:solidFill>
                  <a:srgbClr val="3C3C3C"/>
                </a:solidFill>
              </a:defRPr>
            </a:pPr>
            <a:r>
              <a:rPr lang="en-IE" noProof="0" dirty="0"/>
              <a:t>	2.1.1 </a:t>
            </a:r>
            <a:r>
              <a:rPr lang="en-IE" dirty="0"/>
              <a:t>(</a:t>
            </a:r>
            <a:r>
              <a:rPr lang="en-US" dirty="0"/>
              <a:t>Verma </a:t>
            </a:r>
            <a:r>
              <a:rPr lang="en-IE" dirty="0"/>
              <a:t>et al.</a:t>
            </a:r>
            <a:r>
              <a:rPr lang="en-US" dirty="0"/>
              <a:t> 2024</a:t>
            </a:r>
            <a:r>
              <a:rPr lang="en-IE" dirty="0"/>
              <a:t>)</a:t>
            </a:r>
            <a:endParaRPr lang="en-IE" noProof="0" dirty="0"/>
          </a:p>
          <a:p>
            <a:pPr lvl="1">
              <a:defRPr sz="1800">
                <a:solidFill>
                  <a:srgbClr val="3C3C3C"/>
                </a:solidFill>
              </a:defRPr>
            </a:pPr>
            <a:r>
              <a:rPr lang="en-IE" noProof="0" dirty="0"/>
              <a:t>	2.1.2 </a:t>
            </a:r>
            <a:r>
              <a:rPr lang="en-IE" dirty="0"/>
              <a:t>(</a:t>
            </a:r>
            <a:r>
              <a:rPr lang="en-US" dirty="0"/>
              <a:t>Verma </a:t>
            </a:r>
            <a:r>
              <a:rPr lang="en-IE" dirty="0"/>
              <a:t>et al.</a:t>
            </a:r>
            <a:r>
              <a:rPr lang="en-US" dirty="0"/>
              <a:t> 2024</a:t>
            </a:r>
            <a:r>
              <a:rPr lang="en-IE" dirty="0"/>
              <a:t>)</a:t>
            </a:r>
          </a:p>
          <a:p>
            <a:pPr lvl="1">
              <a:defRPr sz="1800">
                <a:solidFill>
                  <a:srgbClr val="3C3C3C"/>
                </a:solidFill>
              </a:defRPr>
            </a:pPr>
            <a:r>
              <a:rPr lang="en-IE" noProof="0" dirty="0"/>
              <a:t>		2.1.2.1 (</a:t>
            </a:r>
            <a:r>
              <a:rPr lang="en-IE" noProof="0" dirty="0" err="1"/>
              <a:t>Künzler</a:t>
            </a:r>
            <a:r>
              <a:rPr lang="en-IE" noProof="0" dirty="0"/>
              <a:t> et al. 2019)</a:t>
            </a:r>
          </a:p>
          <a:p>
            <a:pPr lvl="1">
              <a:defRPr sz="1800">
                <a:solidFill>
                  <a:srgbClr val="3C3C3C"/>
                </a:solidFill>
              </a:defRPr>
            </a:pPr>
            <a:r>
              <a:rPr lang="en-IE" noProof="0" dirty="0"/>
              <a:t>		</a:t>
            </a:r>
            <a:r>
              <a:rPr lang="en-IE" dirty="0"/>
              <a:t>2.1.2.2 (</a:t>
            </a:r>
            <a:r>
              <a:rPr lang="en-US" dirty="0"/>
              <a:t>Dao</a:t>
            </a:r>
            <a:r>
              <a:rPr lang="en-IE" dirty="0"/>
              <a:t> et al. </a:t>
            </a:r>
            <a:r>
              <a:rPr lang="en-US" dirty="0"/>
              <a:t>2021</a:t>
            </a:r>
            <a:r>
              <a:rPr lang="en-IE" dirty="0"/>
              <a:t>)</a:t>
            </a:r>
          </a:p>
          <a:p>
            <a:pPr lvl="1">
              <a:defRPr sz="1800">
                <a:solidFill>
                  <a:srgbClr val="3C3C3C"/>
                </a:solidFill>
              </a:defRPr>
            </a:pPr>
            <a:r>
              <a:rPr lang="en-IE" noProof="0" dirty="0"/>
              <a:t>	2.1.3 (Mishra et al. 2021), (King et al. 2024)</a:t>
            </a:r>
          </a:p>
          <a:p>
            <a:pPr lvl="1">
              <a:defRPr sz="1800">
                <a:solidFill>
                  <a:srgbClr val="3C3C3C"/>
                </a:solidFill>
              </a:defRPr>
            </a:pPr>
            <a:r>
              <a:rPr lang="en-IE" noProof="0" dirty="0"/>
              <a:t>2.2 (Rani et al. 2025)</a:t>
            </a:r>
          </a:p>
          <a:p>
            <a:pPr lvl="1">
              <a:defRPr sz="1800">
                <a:solidFill>
                  <a:srgbClr val="3C3C3C"/>
                </a:solidFill>
              </a:defRPr>
            </a:pPr>
            <a:r>
              <a:rPr lang="en-IE" noProof="0" dirty="0"/>
              <a:t>	2.2.1 (Sarker et al. 2014), (</a:t>
            </a:r>
            <a:r>
              <a:rPr lang="en-IE" noProof="0" dirty="0" err="1"/>
              <a:t>Katevas</a:t>
            </a:r>
            <a:r>
              <a:rPr lang="en-IE" noProof="0" dirty="0"/>
              <a:t> et al. 2017)</a:t>
            </a:r>
          </a:p>
          <a:p>
            <a:pPr lvl="1">
              <a:defRPr sz="1800">
                <a:solidFill>
                  <a:srgbClr val="3C3C3C"/>
                </a:solidFill>
              </a:defRPr>
            </a:pPr>
            <a:r>
              <a:rPr lang="en-IE" noProof="0" dirty="0"/>
              <a:t>	2.2.2 (</a:t>
            </a:r>
            <a:r>
              <a:rPr lang="en-US" dirty="0"/>
              <a:t>Kazim, 2021</a:t>
            </a:r>
            <a:r>
              <a:rPr lang="en-IE" noProof="0" dirty="0"/>
              <a:t>)</a:t>
            </a:r>
          </a:p>
          <a:p>
            <a:pPr lvl="1">
              <a:defRPr sz="1800">
                <a:solidFill>
                  <a:srgbClr val="3C3C3C"/>
                </a:solidFill>
              </a:defRPr>
            </a:pPr>
            <a:r>
              <a:rPr lang="en-IE" noProof="0" dirty="0"/>
              <a:t>2.3 (Heathcote et al. 2022)</a:t>
            </a:r>
          </a:p>
          <a:p>
            <a:pPr lvl="1">
              <a:defRPr sz="1800">
                <a:solidFill>
                  <a:srgbClr val="3C3C3C"/>
                </a:solidFill>
              </a:defRPr>
            </a:pPr>
            <a:r>
              <a:rPr lang="en-IE" noProof="0" dirty="0"/>
              <a:t>	2.3.1 (</a:t>
            </a:r>
            <a:r>
              <a:rPr lang="en-IE" noProof="0" dirty="0" err="1"/>
              <a:t>Künzler</a:t>
            </a:r>
            <a:r>
              <a:rPr lang="en-IE" noProof="0" dirty="0"/>
              <a:t> et al. 2019), (Mishra et al. 2021), (King et al. 2024)</a:t>
            </a:r>
          </a:p>
          <a:p>
            <a:pPr lvl="1">
              <a:defRPr sz="1800">
                <a:solidFill>
                  <a:srgbClr val="3C3C3C"/>
                </a:solidFill>
              </a:defRPr>
            </a:pPr>
            <a:r>
              <a:rPr lang="en-IE" noProof="0" dirty="0"/>
              <a:t>2.3.2 (Wang et al. 2025) 	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br>
              <a:rPr lang="en-IE" b="1" noProof="0" dirty="0"/>
            </a:br>
            <a:r>
              <a:rPr lang="en-IE" b="1" noProof="0" dirty="0"/>
              <a:t>• Identified research gap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IE" noProof="0" dirty="0"/>
              <a:t>The availability for interventions of cancer survivors will change on a person-to-person basis. 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IE" noProof="0" dirty="0"/>
              <a:t>Therefore, there is no consensus on what the best time is for AI interventions 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IE" noProof="0" dirty="0"/>
              <a:t>for high-patient receptivity 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56256"/>
            <a:ext cx="7780848" cy="2677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1488C"/>
                </a:solidFill>
              </a:defRPr>
            </a:pPr>
            <a:r>
              <a:rPr lang="en-IE" noProof="0" dirty="0"/>
              <a:t>3. Research Design Overview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IE" b="1" noProof="0" dirty="0"/>
              <a:t>• Methodology and research design: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IE" noProof="0" dirty="0"/>
              <a:t> Use Deep Learning techniques and EMA data to predict the best time 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IE" noProof="0" dirty="0"/>
              <a:t>to approach subjects that recently finished their cancer treatment.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br>
              <a:rPr lang="en-IE" noProof="0" dirty="0"/>
            </a:br>
            <a:r>
              <a:rPr lang="en-IE" b="1" noProof="0" dirty="0"/>
              <a:t>• Data collection and analysis approach: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IE" noProof="0" dirty="0"/>
              <a:t>Preprocess sensor data and EMA data from cancer survivors to assess receptivity 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IE" noProof="0" dirty="0"/>
              <a:t>to mental health interventions. 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endParaRPr lang="en-IE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876303" y="7083898"/>
            <a:ext cx="4434034" cy="2677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1488C"/>
                </a:solidFill>
              </a:defRPr>
            </a:pPr>
            <a:r>
              <a:rPr lang="en-IE" noProof="0" dirty="0"/>
              <a:t>4. Project To-Do List and Timeline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IE" noProof="0" dirty="0"/>
              <a:t>• </a:t>
            </a:r>
            <a:r>
              <a:rPr lang="en-IE" b="1" noProof="0" dirty="0"/>
              <a:t>Remaining tasks</a:t>
            </a:r>
          </a:p>
          <a:p>
            <a:pPr lvl="1">
              <a:defRPr sz="1800">
                <a:solidFill>
                  <a:srgbClr val="3C3C3C"/>
                </a:solidFill>
              </a:defRPr>
            </a:pPr>
            <a:r>
              <a:rPr lang="en-IE" noProof="0" dirty="0"/>
              <a:t>All associated to content for chapters:</a:t>
            </a:r>
          </a:p>
          <a:p>
            <a:pPr marL="742950" lvl="1" indent="-285750">
              <a:buFontTx/>
              <a:buChar char="-"/>
              <a:defRPr sz="1800">
                <a:solidFill>
                  <a:srgbClr val="3C3C3C"/>
                </a:solidFill>
              </a:defRPr>
            </a:pPr>
            <a:r>
              <a:rPr lang="en-IE" noProof="0" dirty="0"/>
              <a:t>Methodology</a:t>
            </a:r>
          </a:p>
          <a:p>
            <a:pPr marL="742950" lvl="1" indent="-285750">
              <a:buFontTx/>
              <a:buChar char="-"/>
              <a:defRPr sz="1800">
                <a:solidFill>
                  <a:srgbClr val="3C3C3C"/>
                </a:solidFill>
              </a:defRPr>
            </a:pPr>
            <a:r>
              <a:rPr lang="en-IE" noProof="0" dirty="0"/>
              <a:t>Results and analysis</a:t>
            </a:r>
          </a:p>
          <a:p>
            <a:pPr marL="742950" lvl="1" indent="-285750">
              <a:buFontTx/>
              <a:buChar char="-"/>
              <a:defRPr sz="1800">
                <a:solidFill>
                  <a:srgbClr val="3C3C3C"/>
                </a:solidFill>
              </a:defRPr>
            </a:pPr>
            <a:r>
              <a:rPr lang="en-IE" noProof="0" dirty="0"/>
              <a:t>Conclusions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br>
              <a:rPr lang="en-IE" noProof="0" dirty="0"/>
            </a:br>
            <a:r>
              <a:rPr lang="en-IE" b="1" noProof="0" dirty="0"/>
              <a:t>• Indicative timeline to completion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endParaRPr lang="en-IE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10972800" y="11262360"/>
            <a:ext cx="9225602" cy="4616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1488C"/>
                </a:solidFill>
              </a:defRPr>
            </a:pPr>
            <a:r>
              <a:rPr lang="en-IE" noProof="0" dirty="0"/>
              <a:t>5. Iteration and Learning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IE" noProof="0" dirty="0"/>
              <a:t>• </a:t>
            </a:r>
            <a:r>
              <a:rPr lang="en-IE" b="1" noProof="0" dirty="0"/>
              <a:t>Key changes made during the module:</a:t>
            </a:r>
          </a:p>
          <a:p>
            <a:pPr marL="342900" indent="-342900">
              <a:buAutoNum type="arabicParenR"/>
              <a:defRPr sz="1800">
                <a:solidFill>
                  <a:srgbClr val="3C3C3C"/>
                </a:solidFill>
              </a:defRPr>
            </a:pPr>
            <a:r>
              <a:rPr lang="en-IE" noProof="0" dirty="0"/>
              <a:t>Enriched more my reference framework.</a:t>
            </a:r>
          </a:p>
          <a:p>
            <a:pPr marL="342900" indent="-342900">
              <a:buAutoNum type="arabicParenR"/>
              <a:defRPr sz="1800">
                <a:solidFill>
                  <a:srgbClr val="3C3C3C"/>
                </a:solidFill>
              </a:defRPr>
            </a:pPr>
            <a:r>
              <a:rPr lang="en-IE" noProof="0" dirty="0"/>
              <a:t>Improved the description of the dataset at hand.</a:t>
            </a:r>
          </a:p>
          <a:p>
            <a:pPr marL="342900" indent="-342900">
              <a:buAutoNum type="arabicParenR"/>
              <a:defRPr sz="1800">
                <a:solidFill>
                  <a:srgbClr val="3C3C3C"/>
                </a:solidFill>
              </a:defRPr>
            </a:pPr>
            <a:r>
              <a:rPr lang="en-IE" noProof="0" dirty="0"/>
              <a:t>Specified better what techniques for 'mood measurement' have been already implemented.</a:t>
            </a:r>
          </a:p>
          <a:p>
            <a:pPr marL="342900" indent="-342900">
              <a:buAutoNum type="arabicParenR"/>
              <a:defRPr sz="1800">
                <a:solidFill>
                  <a:srgbClr val="3C3C3C"/>
                </a:solidFill>
              </a:defRPr>
            </a:pPr>
            <a:r>
              <a:rPr lang="en-IE" noProof="0" dirty="0"/>
              <a:t>Explain more the data preprocessing involved.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endParaRPr lang="en-IE" noProof="0" dirty="0"/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IE" b="1" noProof="0" dirty="0"/>
              <a:t>• Why these changes were made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IE" noProof="0" dirty="0"/>
              <a:t>For 1) To have better definitions when required. 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IE" noProof="0" dirty="0"/>
              <a:t>For 2) Strengthen methodology justification and show better how deep learning is a respectable 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IE" noProof="0" dirty="0"/>
              <a:t>approach to deal with the data. 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IE" noProof="0" dirty="0"/>
              <a:t>For 3) To justify better the research gap and why this project will be useful.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IE" noProof="0" dirty="0"/>
              <a:t>For 4) Initially I didn’t have enough time to develop this. 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br>
              <a:rPr lang="en-IE" noProof="0" dirty="0"/>
            </a:br>
            <a:r>
              <a:rPr lang="en-IE" noProof="0" dirty="0"/>
              <a:t>• </a:t>
            </a:r>
            <a:r>
              <a:rPr lang="en-IE" b="1" noProof="0" dirty="0"/>
              <a:t>What was learned from the iteration process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IE" noProof="0" dirty="0"/>
              <a:t>In general, the right structure for chapters 1 and 2, the foundation of the dissertation. 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93FCC45-CF81-F979-70EA-7FE767DB21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5596956"/>
              </p:ext>
            </p:extLst>
          </p:nvPr>
        </p:nvGraphicFramePr>
        <p:xfrm>
          <a:off x="508017" y="9747169"/>
          <a:ext cx="9604639" cy="4803255"/>
        </p:xfrm>
        <a:graphic>
          <a:graphicData uri="http://schemas.openxmlformats.org/drawingml/2006/table">
            <a:tbl>
              <a:tblPr/>
              <a:tblGrid>
                <a:gridCol w="2161085">
                  <a:extLst>
                    <a:ext uri="{9D8B030D-6E8A-4147-A177-3AD203B41FA5}">
                      <a16:colId xmlns:a16="http://schemas.microsoft.com/office/drawing/2014/main" val="2860708858"/>
                    </a:ext>
                  </a:extLst>
                </a:gridCol>
                <a:gridCol w="521249">
                  <a:extLst>
                    <a:ext uri="{9D8B030D-6E8A-4147-A177-3AD203B41FA5}">
                      <a16:colId xmlns:a16="http://schemas.microsoft.com/office/drawing/2014/main" val="1936080326"/>
                    </a:ext>
                  </a:extLst>
                </a:gridCol>
                <a:gridCol w="521249">
                  <a:extLst>
                    <a:ext uri="{9D8B030D-6E8A-4147-A177-3AD203B41FA5}">
                      <a16:colId xmlns:a16="http://schemas.microsoft.com/office/drawing/2014/main" val="1483205722"/>
                    </a:ext>
                  </a:extLst>
                </a:gridCol>
                <a:gridCol w="521249">
                  <a:extLst>
                    <a:ext uri="{9D8B030D-6E8A-4147-A177-3AD203B41FA5}">
                      <a16:colId xmlns:a16="http://schemas.microsoft.com/office/drawing/2014/main" val="2170913306"/>
                    </a:ext>
                  </a:extLst>
                </a:gridCol>
                <a:gridCol w="521249">
                  <a:extLst>
                    <a:ext uri="{9D8B030D-6E8A-4147-A177-3AD203B41FA5}">
                      <a16:colId xmlns:a16="http://schemas.microsoft.com/office/drawing/2014/main" val="245508987"/>
                    </a:ext>
                  </a:extLst>
                </a:gridCol>
                <a:gridCol w="521249">
                  <a:extLst>
                    <a:ext uri="{9D8B030D-6E8A-4147-A177-3AD203B41FA5}">
                      <a16:colId xmlns:a16="http://schemas.microsoft.com/office/drawing/2014/main" val="3484527482"/>
                    </a:ext>
                  </a:extLst>
                </a:gridCol>
                <a:gridCol w="521249">
                  <a:extLst>
                    <a:ext uri="{9D8B030D-6E8A-4147-A177-3AD203B41FA5}">
                      <a16:colId xmlns:a16="http://schemas.microsoft.com/office/drawing/2014/main" val="2902031982"/>
                    </a:ext>
                  </a:extLst>
                </a:gridCol>
                <a:gridCol w="521249">
                  <a:extLst>
                    <a:ext uri="{9D8B030D-6E8A-4147-A177-3AD203B41FA5}">
                      <a16:colId xmlns:a16="http://schemas.microsoft.com/office/drawing/2014/main" val="298908872"/>
                    </a:ext>
                  </a:extLst>
                </a:gridCol>
                <a:gridCol w="521249">
                  <a:extLst>
                    <a:ext uri="{9D8B030D-6E8A-4147-A177-3AD203B41FA5}">
                      <a16:colId xmlns:a16="http://schemas.microsoft.com/office/drawing/2014/main" val="281886115"/>
                    </a:ext>
                  </a:extLst>
                </a:gridCol>
                <a:gridCol w="521249">
                  <a:extLst>
                    <a:ext uri="{9D8B030D-6E8A-4147-A177-3AD203B41FA5}">
                      <a16:colId xmlns:a16="http://schemas.microsoft.com/office/drawing/2014/main" val="240088025"/>
                    </a:ext>
                  </a:extLst>
                </a:gridCol>
                <a:gridCol w="521249">
                  <a:extLst>
                    <a:ext uri="{9D8B030D-6E8A-4147-A177-3AD203B41FA5}">
                      <a16:colId xmlns:a16="http://schemas.microsoft.com/office/drawing/2014/main" val="3782728116"/>
                    </a:ext>
                  </a:extLst>
                </a:gridCol>
                <a:gridCol w="521249">
                  <a:extLst>
                    <a:ext uri="{9D8B030D-6E8A-4147-A177-3AD203B41FA5}">
                      <a16:colId xmlns:a16="http://schemas.microsoft.com/office/drawing/2014/main" val="1143194446"/>
                    </a:ext>
                  </a:extLst>
                </a:gridCol>
                <a:gridCol w="521249">
                  <a:extLst>
                    <a:ext uri="{9D8B030D-6E8A-4147-A177-3AD203B41FA5}">
                      <a16:colId xmlns:a16="http://schemas.microsoft.com/office/drawing/2014/main" val="965013190"/>
                    </a:ext>
                  </a:extLst>
                </a:gridCol>
                <a:gridCol w="521249">
                  <a:extLst>
                    <a:ext uri="{9D8B030D-6E8A-4147-A177-3AD203B41FA5}">
                      <a16:colId xmlns:a16="http://schemas.microsoft.com/office/drawing/2014/main" val="2315065089"/>
                    </a:ext>
                  </a:extLst>
                </a:gridCol>
                <a:gridCol w="667317">
                  <a:extLst>
                    <a:ext uri="{9D8B030D-6E8A-4147-A177-3AD203B41FA5}">
                      <a16:colId xmlns:a16="http://schemas.microsoft.com/office/drawing/2014/main" val="799997072"/>
                    </a:ext>
                  </a:extLst>
                </a:gridCol>
              </a:tblGrid>
              <a:tr h="29771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E" sz="1800" b="1" noProof="0" dirty="0">
                          <a:effectLst/>
                        </a:rPr>
                        <a:t>Dissertation</a:t>
                      </a: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E" sz="1600" noProof="0" dirty="0">
                          <a:effectLst/>
                        </a:rPr>
                        <a:t>07/26</a:t>
                      </a: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E" sz="1600" noProof="0" dirty="0">
                          <a:effectLst/>
                        </a:rPr>
                        <a:t>08/26</a:t>
                      </a: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E" sz="1600" noProof="0" dirty="0">
                          <a:effectLst/>
                        </a:rPr>
                        <a:t>09/26</a:t>
                      </a: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E" sz="1600" noProof="0" dirty="0">
                          <a:effectLst/>
                        </a:rPr>
                        <a:t>10/26</a:t>
                      </a: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E" sz="1600" noProof="0" dirty="0">
                          <a:effectLst/>
                        </a:rPr>
                        <a:t>11/26</a:t>
                      </a: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E" sz="1600" noProof="0" dirty="0">
                          <a:effectLst/>
                        </a:rPr>
                        <a:t>12/26</a:t>
                      </a: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E" sz="1600" noProof="0" dirty="0">
                          <a:effectLst/>
                        </a:rPr>
                        <a:t>01/27</a:t>
                      </a: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E" sz="1600" noProof="0" dirty="0">
                          <a:effectLst/>
                        </a:rPr>
                        <a:t>02/27</a:t>
                      </a: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E" sz="1600" noProof="0" dirty="0">
                          <a:effectLst/>
                        </a:rPr>
                        <a:t>03/27</a:t>
                      </a: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E" sz="1600" noProof="0" dirty="0">
                          <a:effectLst/>
                        </a:rPr>
                        <a:t>04/27</a:t>
                      </a: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E" sz="1600" noProof="0" dirty="0">
                          <a:effectLst/>
                        </a:rPr>
                        <a:t>05/27</a:t>
                      </a: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E" sz="1600" noProof="0" dirty="0">
                          <a:effectLst/>
                        </a:rPr>
                        <a:t>06/27</a:t>
                      </a: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E" sz="1600" noProof="0" dirty="0">
                          <a:effectLst/>
                        </a:rPr>
                        <a:t>07/27</a:t>
                      </a: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E" sz="1600" noProof="0" dirty="0">
                          <a:effectLst/>
                        </a:rPr>
                        <a:t>08/27</a:t>
                      </a: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55193"/>
                  </a:ext>
                </a:extLst>
              </a:tr>
              <a:tr h="184853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E" sz="1800" noProof="0" dirty="0">
                          <a:effectLst/>
                        </a:rPr>
                        <a:t>Data exploration</a:t>
                      </a: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CD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CD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7B7B7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1948677"/>
                  </a:ext>
                </a:extLst>
              </a:tr>
              <a:tr h="184853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E" sz="1800" noProof="0" dirty="0">
                          <a:effectLst/>
                        </a:rPr>
                        <a:t>Create data preprocessing pipeline</a:t>
                      </a: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CD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CD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CD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7B7B7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985181"/>
                  </a:ext>
                </a:extLst>
              </a:tr>
              <a:tr h="184853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E" sz="1800" noProof="0" dirty="0">
                          <a:effectLst/>
                        </a:rPr>
                        <a:t>Submit final literature review</a:t>
                      </a: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CD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7B7B7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8109891"/>
                  </a:ext>
                </a:extLst>
              </a:tr>
              <a:tr h="184853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E" sz="1800" noProof="0" dirty="0">
                          <a:effectLst/>
                        </a:rPr>
                        <a:t>Model selection</a:t>
                      </a: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CD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CD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CD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7B7B7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4888457"/>
                  </a:ext>
                </a:extLst>
              </a:tr>
              <a:tr h="184853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E" sz="1800" noProof="0" dirty="0">
                          <a:effectLst/>
                        </a:rPr>
                        <a:t>Hyperparameter space exploration</a:t>
                      </a: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CD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CD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CD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7B7B7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8390942"/>
                  </a:ext>
                </a:extLst>
              </a:tr>
              <a:tr h="184853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E" sz="1800" noProof="0" dirty="0">
                          <a:effectLst/>
                        </a:rPr>
                        <a:t>Formalise methodology</a:t>
                      </a: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CD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7B7B7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3141916"/>
                  </a:ext>
                </a:extLst>
              </a:tr>
              <a:tr h="184853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E" sz="1800" noProof="0" dirty="0">
                          <a:effectLst/>
                        </a:rPr>
                        <a:t>Performance and quality comparison</a:t>
                      </a: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CD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CD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7B7B7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5908072"/>
                  </a:ext>
                </a:extLst>
              </a:tr>
              <a:tr h="184853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E" sz="1800" noProof="0" dirty="0">
                          <a:effectLst/>
                        </a:rPr>
                        <a:t>Results gathering</a:t>
                      </a: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CD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7B7B7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377487"/>
                  </a:ext>
                </a:extLst>
              </a:tr>
              <a:tr h="184853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E" sz="1800" noProof="0" dirty="0">
                          <a:effectLst/>
                        </a:rPr>
                        <a:t>Analysis</a:t>
                      </a: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CD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CD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7B7B7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2851913"/>
                  </a:ext>
                </a:extLst>
              </a:tr>
              <a:tr h="184853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E" sz="1800" noProof="0" dirty="0">
                          <a:effectLst/>
                        </a:rPr>
                        <a:t>Conclusions</a:t>
                      </a: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CD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7B7B7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217782"/>
                  </a:ext>
                </a:extLst>
              </a:tr>
              <a:tr h="33568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E" sz="1800" noProof="0" dirty="0">
                          <a:effectLst/>
                        </a:rPr>
                        <a:t>Cushion</a:t>
                      </a: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7B7B7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7B7B7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7B7B7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7B7B7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7B7B7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7B7B7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CD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E" sz="1800" noProof="0" dirty="0">
                        <a:effectLst/>
                      </a:endParaRPr>
                    </a:p>
                  </a:txBody>
                  <a:tcPr marL="4130" marR="4130" marT="2753" marB="2753" anchor="b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C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6376035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EF8BEE30-AAAF-F86C-5CD5-AB146F276591}"/>
              </a:ext>
            </a:extLst>
          </p:cNvPr>
          <p:cNvSpPr txBox="1"/>
          <p:nvPr/>
        </p:nvSpPr>
        <p:spPr>
          <a:xfrm>
            <a:off x="508016" y="19881115"/>
            <a:ext cx="19690385" cy="904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1488C"/>
                </a:solidFill>
              </a:defRPr>
            </a:pPr>
            <a:r>
              <a:rPr lang="en-IE" noProof="0" dirty="0"/>
              <a:t>References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endParaRPr lang="en-IE" noProof="0" dirty="0"/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US" dirty="0"/>
              <a:t>Dao, K.P., De Cocker, K., Tong, H.L., </a:t>
            </a:r>
            <a:r>
              <a:rPr lang="en-US" dirty="0" err="1"/>
              <a:t>Kocaballi</a:t>
            </a:r>
            <a:r>
              <a:rPr lang="en-US" dirty="0"/>
              <a:t>, A.B., Chow, C., and Laranjo, L. (2021) ‘Smartphone-Delivered Ecological Momentary Interventions Based on Ecological Momentary Assessments to Promote Health Behaviors: Systematic Review and Adapted Checklist for Reporting Ecological Momentary Assessment and Intervention Studies’, </a:t>
            </a:r>
            <a:r>
              <a:rPr lang="en-US" i="1" dirty="0"/>
              <a:t>JMIR mHealth and </a:t>
            </a:r>
            <a:r>
              <a:rPr lang="en-US" i="1" dirty="0" err="1"/>
              <a:t>uHealth</a:t>
            </a:r>
            <a:r>
              <a:rPr lang="en-US" dirty="0"/>
              <a:t>, 9(11), e22890, available: https://doi.org/10.2196/22890.</a:t>
            </a:r>
            <a:endParaRPr lang="en-IE" noProof="0" dirty="0"/>
          </a:p>
          <a:p>
            <a:pPr>
              <a:defRPr sz="1800">
                <a:solidFill>
                  <a:srgbClr val="3C3C3C"/>
                </a:solidFill>
              </a:defRPr>
            </a:pPr>
            <a:endParaRPr lang="en-IE" dirty="0"/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IE" noProof="0" dirty="0"/>
              <a:t>Heathcote, L. C., Cunningham, S. J., Webster, S. N., Tanna, V., Mattke, E., Loecher, N., Spunt, S. L., Simon, P., Dahl, G., </a:t>
            </a:r>
            <a:r>
              <a:rPr lang="en-IE" noProof="0" dirty="0" err="1"/>
              <a:t>Walentynowicz</a:t>
            </a:r>
            <a:r>
              <a:rPr lang="en-IE" noProof="0" dirty="0"/>
              <a:t>, M., Murnane, E., </a:t>
            </a:r>
            <a:r>
              <a:rPr lang="en-IE" noProof="0" dirty="0" err="1"/>
              <a:t>Tutelman</a:t>
            </a:r>
            <a:r>
              <a:rPr lang="en-IE" noProof="0" dirty="0"/>
              <a:t>, P. R., Schapira, L., Simons, L. E. and Mueller, C. (2022), ‘Smartphone-based ecological momentary assessment to study “</a:t>
            </a:r>
            <a:r>
              <a:rPr lang="en-IE" noProof="0" dirty="0" err="1"/>
              <a:t>scanxiety</a:t>
            </a:r>
            <a:r>
              <a:rPr lang="en-IE" noProof="0" dirty="0"/>
              <a:t>” among adolescent and young adult survivors of childhood cancer: A feasibility study’, Psycho-oncology (Chichester, England) 31(8), 1322–1330.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endParaRPr lang="en-IE" noProof="0" dirty="0"/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IE" noProof="0" dirty="0" err="1"/>
              <a:t>Katevas</a:t>
            </a:r>
            <a:r>
              <a:rPr lang="en-IE" noProof="0" dirty="0"/>
              <a:t>, K., </a:t>
            </a:r>
            <a:r>
              <a:rPr lang="en-IE" noProof="0" dirty="0" err="1"/>
              <a:t>Leontiadis</a:t>
            </a:r>
            <a:r>
              <a:rPr lang="en-IE" noProof="0" dirty="0"/>
              <a:t>, I., </a:t>
            </a:r>
            <a:r>
              <a:rPr lang="en-IE" noProof="0" dirty="0" err="1"/>
              <a:t>Pielot</a:t>
            </a:r>
            <a:r>
              <a:rPr lang="en-IE" noProof="0" dirty="0"/>
              <a:t>, M. and Serr</a:t>
            </a:r>
            <a:r>
              <a:rPr lang="en-IE" dirty="0"/>
              <a:t>à</a:t>
            </a:r>
            <a:r>
              <a:rPr lang="en-IE" noProof="0" dirty="0"/>
              <a:t>, J. (2017), ‘Practical processing of mobile sensor data for continual deep learning predictions’, arXiv.org . 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endParaRPr lang="en-IE" noProof="0" dirty="0"/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IE" noProof="0" dirty="0"/>
              <a:t>King, Z. D., Yu, H., Vaessen, T., Myin-</a:t>
            </a:r>
            <a:r>
              <a:rPr lang="en-IE" noProof="0" dirty="0" err="1"/>
              <a:t>Germeys</a:t>
            </a:r>
            <a:r>
              <a:rPr lang="en-IE" noProof="0" dirty="0"/>
              <a:t>, I. and Sano, A. (2024), ‘Investigating receptivity and affect using machine learning: Ecological momentary assessment and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IE" noProof="0" dirty="0"/>
              <a:t>wearable sensing study’, JMIR mHealth and </a:t>
            </a:r>
            <a:r>
              <a:rPr lang="en-IE" noProof="0" dirty="0" err="1"/>
              <a:t>uHealth</a:t>
            </a:r>
            <a:r>
              <a:rPr lang="en-IE" noProof="0" dirty="0"/>
              <a:t> 12, e46347–. 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br>
              <a:rPr lang="en-US" dirty="0"/>
            </a:br>
            <a:r>
              <a:rPr lang="en-US" dirty="0"/>
              <a:t>Kazim, E. and </a:t>
            </a:r>
            <a:r>
              <a:rPr lang="en-US" dirty="0" err="1"/>
              <a:t>Koshiyama</a:t>
            </a:r>
            <a:r>
              <a:rPr lang="en-US" dirty="0"/>
              <a:t>, A.S. (2021) ‘A high-level overview of AI ethics’, </a:t>
            </a:r>
            <a:r>
              <a:rPr lang="en-US" i="1" dirty="0"/>
              <a:t>Patterns (New York, N.Y.)</a:t>
            </a:r>
            <a:r>
              <a:rPr lang="en-US" dirty="0"/>
              <a:t>, 2(9), available: https://doi.org/10.1016/j.patter.2021.100314.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endParaRPr lang="en-IE" noProof="0" dirty="0"/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IE" noProof="0" dirty="0"/>
              <a:t>K</a:t>
            </a:r>
            <a:r>
              <a:rPr lang="en-IE" dirty="0" err="1"/>
              <a:t>ünzler</a:t>
            </a:r>
            <a:r>
              <a:rPr lang="en-IE" noProof="0" dirty="0"/>
              <a:t>, F., Mishra, V., Kramer, J.-N., Kotz, D., Fleisch, E. and </a:t>
            </a:r>
            <a:r>
              <a:rPr lang="en-IE" noProof="0" dirty="0" err="1"/>
              <a:t>Kowatsch</a:t>
            </a:r>
            <a:r>
              <a:rPr lang="en-IE" noProof="0" dirty="0"/>
              <a:t>, T. (2019), ‘Exploring the state-of-receptivity for </a:t>
            </a:r>
            <a:r>
              <a:rPr lang="en-IE" noProof="0" dirty="0" err="1"/>
              <a:t>mhealth</a:t>
            </a:r>
            <a:r>
              <a:rPr lang="en-IE" noProof="0" dirty="0"/>
              <a:t> interventions’, Proceedings of ACM on interactive, mobile, wearable and ubiquitous technologies 3(4), 1–27. 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endParaRPr lang="en-IE" noProof="0" dirty="0"/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IE" noProof="0" dirty="0"/>
              <a:t>Mishra, V</a:t>
            </a:r>
            <a:r>
              <a:rPr lang="en-IE" dirty="0"/>
              <a:t>., </a:t>
            </a:r>
            <a:r>
              <a:rPr lang="en-IE" dirty="0" err="1"/>
              <a:t>Künzler</a:t>
            </a:r>
            <a:r>
              <a:rPr lang="en-IE" noProof="0" dirty="0"/>
              <a:t>, F., Kramer, J.-N., Fleisch, E., </a:t>
            </a:r>
            <a:r>
              <a:rPr lang="en-IE" noProof="0" dirty="0" err="1"/>
              <a:t>Kowatsch</a:t>
            </a:r>
            <a:r>
              <a:rPr lang="en-IE" noProof="0" dirty="0"/>
              <a:t>, T. and Kotz, D. (2021), ‘Detecting receptivity for </a:t>
            </a:r>
            <a:r>
              <a:rPr lang="en-IE" noProof="0" dirty="0" err="1"/>
              <a:t>mhealth</a:t>
            </a:r>
            <a:r>
              <a:rPr lang="en-IE" noProof="0" dirty="0"/>
              <a:t> interventions in the natural environment’, Proceedings of ACM on interactive, mobile, wearable and ubiquitous technologies 5(2), 1–24.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endParaRPr lang="en-IE" noProof="0" dirty="0"/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IE" noProof="0" dirty="0"/>
              <a:t>Rani, S., Kumar, R., Panda, B. S., Kumar, R., Muften, N. F., Abass, M. A. and </a:t>
            </a:r>
            <a:r>
              <a:rPr lang="en-IE" noProof="0" dirty="0" err="1"/>
              <a:t>Lozanovi</a:t>
            </a:r>
            <a:r>
              <a:rPr lang="en-US" dirty="0"/>
              <a:t>ć</a:t>
            </a:r>
            <a:r>
              <a:rPr lang="en-IE" noProof="0" dirty="0"/>
              <a:t>, J. (2025), ‘Machine learning-powered smart healthcare systems in the era of big data: Applications, diagnostic insights, challenges, and ethical implications’, Diagnostics (Basel) 15(15), 1914–.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endParaRPr lang="en-IE" noProof="0" dirty="0"/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IE" noProof="0" dirty="0"/>
              <a:t>Sarker, H., Sharmin, M., Ali, A. A., Rahman, M. M., Bari, R., Hossain, S. M. and Kumar, S. (2014), Assessing the availability of users to engage in just-in-time intervention in the natural environment, in ‘Proceedings of the 2014 ACM International Joint Conference on Pervasive and Ubiquitous Computing’, ACM, New York, NY, USA, pp. 909–920.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endParaRPr lang="en-IE" noProof="0" dirty="0"/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US" noProof="0" dirty="0"/>
              <a:t>Verma, N., Singhal, A., and Singh, V. (2024) Prediction in Medicine., 1st ed., Sharjah: Bentham Science Publishers.</a:t>
            </a:r>
            <a:endParaRPr lang="en-IE" noProof="0" dirty="0"/>
          </a:p>
          <a:p>
            <a:pPr>
              <a:defRPr sz="1800">
                <a:solidFill>
                  <a:srgbClr val="3C3C3C"/>
                </a:solidFill>
              </a:defRPr>
            </a:pPr>
            <a:endParaRPr lang="en-IE" noProof="0" dirty="0"/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IE" noProof="0" dirty="0"/>
              <a:t>Wang, Y., Wu, H., Dong, J., Liu, Y., Wang, C., Long, M. and Wang, J. (2025), ‘Deep time series models: A comprehensive survey and benchmark’.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1795</TotalTime>
  <Words>1274</Words>
  <Application>Microsoft Office PowerPoint</Application>
  <PresentationFormat>Custom</PresentationFormat>
  <Paragraphs>121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Gabriel Espinoza Rojas</cp:lastModifiedBy>
  <cp:revision>8</cp:revision>
  <dcterms:created xsi:type="dcterms:W3CDTF">2013-01-27T09:14:16Z</dcterms:created>
  <dcterms:modified xsi:type="dcterms:W3CDTF">2026-06-16T23:57:53Z</dcterms:modified>
  <cp:category/>
</cp:coreProperties>
</file>